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B54B"/>
                </a:solidFill>
                <a:latin typeface="Aptos"/>
              </a:rPr>
              <a:t>PROJETO FINAL | TEES 2026.2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7680960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 Display"/>
              </a:rPr>
              <a:t>Custo social de sinistros
rodoviários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80467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D6E1E6"/>
                </a:solidFill>
                <a:latin typeface="Aptos"/>
              </a:rPr>
              <a:t>Piloto no Rio Grande do Norte e caminho de escala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703320"/>
            <a:ext cx="80467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FB54B"/>
                </a:solidFill>
                <a:latin typeface="Aptos"/>
              </a:rPr>
              <a:t>Modelagem, espacialização e desenvolvimento assistido por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4754880"/>
            <a:ext cx="237744" cy="45720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19" y="4389120"/>
            <a:ext cx="237744" cy="82296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3840480"/>
            <a:ext cx="237744" cy="137160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55480" y="4160520"/>
            <a:ext cx="237744" cy="105156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0" y="3291840"/>
            <a:ext cx="237744" cy="192024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78440" y="3657600"/>
            <a:ext cx="237744" cy="155448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0" y="2788920"/>
            <a:ext cx="237744" cy="242316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897880"/>
            <a:ext cx="6858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FC7"/>
                </a:solidFill>
                <a:latin typeface="Aptos"/>
              </a:rPr>
              <a:t>PRF  ·  SNV  ·  PNCT/VMDa  ·  DATASUS  ·  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BEC9D2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FB54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Contexto e ponto de partida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583680" cy="2926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Caso real da tese de doutorado: valoração e espacialização de sinistros em rodovias federais.</a:t>
            </a:r>
          </a:p>
          <a:p>
            <a:pPr>
              <a:spcAft>
                <a:spcPts val="7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O RN é um piloto fechado e verificável; o núcleo é parametrizado para as 27 UFs.</a:t>
            </a:r>
          </a:p>
          <a:p>
            <a:pPr>
              <a:spcAft>
                <a:spcPts val="7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A base de referência já reúne parâmetros de custo, subregistro e malha do SNV.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3774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76852"/>
                </a:solidFill>
                <a:latin typeface="Aptos Display"/>
              </a:rPr>
              <a:t>R$ 2,30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F6F7D"/>
                </a:solidFill>
                <a:latin typeface="Aptos"/>
              </a:rPr>
              <a:t>custo social de referência do 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154680"/>
            <a:ext cx="23774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41A691"/>
                </a:solidFill>
                <a:latin typeface="Aptos Display"/>
              </a:rPr>
              <a:t>1.648,7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65760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F6F7D"/>
                </a:solidFill>
                <a:latin typeface="Aptos"/>
              </a:rPr>
              <a:t>malha federal no recorte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389120"/>
            <a:ext cx="23774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FB54B"/>
                </a:solidFill>
                <a:latin typeface="Aptos Display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9204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F6F7D"/>
                </a:solidFill>
                <a:latin typeface="Aptos"/>
              </a:rPr>
              <a:t>categorias de gravidade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O problema que o projeto enfrenta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73152" cy="155448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Fragmentação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359152"/>
            <a:ext cx="2999232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Fontes públicas têm formatos, granularidades e safras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73152" cy="1554480"/>
          </a:xfrm>
          <a:prstGeom prst="rect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Dupla contagem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359152"/>
            <a:ext cx="2999232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Refinar o Ipea com LAI exige decompor o custo sem somar o mesmo componente duas vezes.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7373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737360"/>
            <a:ext cx="73152" cy="155448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92024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Leitura enviesada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59152"/>
            <a:ext cx="2999232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Custo absoluto favorece corredores com mais tráfego; risco pede exposição e subregistro.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76852"/>
                </a:solidFill>
                <a:latin typeface="Aptos"/>
              </a:rPr>
              <a:t>Pergunta-guia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11F34"/>
                </a:solidFill>
                <a:latin typeface="Aptos Display"/>
              </a:rPr>
              <a:t>Quais segmentos concentram custo social e quais permanecem críticos mesmo quando ajustados pelo volume de tráfego?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Objetivo, escopo e não-escopo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76852"/>
                </a:solidFill>
                <a:latin typeface="Aptos"/>
              </a:rPr>
              <a:t>ENTREGA DO 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4632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Calcular custo por segmento no RN.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Espacializar sinistros no SNV com safra casada.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Ranquear por custo absoluto e por exposição.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Expor consulta, relatórios e evidências de teste.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1A691"/>
                </a:solidFill>
                <a:latin typeface="Aptos"/>
              </a:rPr>
              <a:t>CONTINUIDADE DA TESE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84632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Escala nacional com o mesmo núcleo.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Ingestão futura do RENAEST.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Aprofundamento de fontes LAI pendentes.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Dados pessoais e origem pesada fora do versionamento.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Requisitos funcionais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73152" cy="123444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196596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RF01–RF03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404872"/>
            <a:ext cx="4553712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PRF por UF; custo em quatro categorias; atualização monetária.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783080"/>
            <a:ext cx="73152" cy="123444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196596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RF04–RF05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404872"/>
            <a:ext cx="4553712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Ancoragem no SNV por safra; banco SQLite com proveniência.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8328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383280"/>
            <a:ext cx="73152" cy="1234440"/>
          </a:xfrm>
          <a:prstGeom prst="rect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56616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RF06–RF07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4005072"/>
            <a:ext cx="4553712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Exposição por VMDa; cenários de correção de subregistro.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38328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383280"/>
            <a:ext cx="73152" cy="123444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356616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RF08–RF10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4005072"/>
            <a:ext cx="4553712" cy="484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Ranqueamento; relatórios estruturados; consulta web com mapa.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9875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F6F7D"/>
                </a:solidFill>
                <a:latin typeface="Aptos"/>
              </a:rPr>
              <a:t>Critério: cada requisito aponta para código, teste ou artefato de especificação.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Modelo de custo: quatro categorias, uma âncora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11F34"/>
                </a:solidFill>
                <a:latin typeface="Aptos Display"/>
              </a:rPr>
              <a:t>A refinação não soma componentes sobre o Ipea: ela decompõe e triangula.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743200"/>
            <a:ext cx="73152" cy="13716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926080"/>
            <a:ext cx="2148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Sem vítimas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364992"/>
            <a:ext cx="2130552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Dano material por ocorrência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74320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743200"/>
            <a:ext cx="73152" cy="137160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6" y="2926080"/>
            <a:ext cx="2148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Ferido leve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3364992"/>
            <a:ext cx="2130552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Custo por vítima e gravidade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4320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743200"/>
            <a:ext cx="73152" cy="1371600"/>
          </a:xfrm>
          <a:prstGeom prst="rect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2926080"/>
            <a:ext cx="2148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Ferido grave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3364992"/>
            <a:ext cx="2130552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SIH + INSS observados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74320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743200"/>
            <a:ext cx="73152" cy="13716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2926080"/>
            <a:ext cx="2148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Óbito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3364992"/>
            <a:ext cx="2130552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Mortalidade e perda 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5F6F7D"/>
                </a:solidFill>
                <a:latin typeface="Aptos"/>
              </a:rPr>
              <a:t>Ipea = âncora oficial  |  LAI = decomposição e auditoria  |  IPCA = atualização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Do sinistro ao trecho crítico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02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E76852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Casar safra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1945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7D"/>
                </a:solidFill>
                <a:latin typeface="Aptos"/>
              </a:rPr>
              <a:t>Ano do sinistro com a malha vigente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2103120"/>
            <a:ext cx="438912" cy="274320"/>
          </a:xfrm>
          <a:prstGeom prst="rightArrow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828800"/>
            <a:ext cx="502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41A691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Ancorar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1945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7D"/>
                </a:solidFill>
                <a:latin typeface="Aptos"/>
              </a:rPr>
              <a:t>BR + UF + km no segmento SNV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60720" y="2103120"/>
            <a:ext cx="438912" cy="274320"/>
          </a:xfrm>
          <a:prstGeom prst="rightArrow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502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E76852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Agregar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26080"/>
            <a:ext cx="21945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7D"/>
                </a:solidFill>
                <a:latin typeface="Aptos"/>
              </a:rPr>
              <a:t>Ocorrências, vítimas e custo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03920" y="2103120"/>
            <a:ext cx="438912" cy="274320"/>
          </a:xfrm>
          <a:prstGeom prst="rightArrow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502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41A691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468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F34"/>
                </a:solidFill>
                <a:latin typeface="Aptos"/>
              </a:rPr>
              <a:t>Normalizar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926080"/>
            <a:ext cx="21945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7D"/>
                </a:solidFill>
                <a:latin typeface="Aptos"/>
              </a:rPr>
              <a:t>Custo por km e por exposição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292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11F34"/>
                </a:solidFill>
                <a:latin typeface="Aptos Display"/>
              </a:rPr>
              <a:t>Duas leituras do mapa: concentração de custo e criticidade ajustada pelo tráfego.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TECNOLOGIA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Arquitetura: monólito modular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1143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01168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Entradas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450592"/>
            <a:ext cx="181051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PRF · SNV · PNCT/VMDa · DATASUS · LAI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73152" cy="114300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01168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Núcleo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450592"/>
            <a:ext cx="245059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custo · snv · exposição · saúde · persistência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8288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1828800"/>
            <a:ext cx="73152" cy="1143000"/>
          </a:xfrm>
          <a:prstGeom prst="rect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6" y="201168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Aplicação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2450592"/>
            <a:ext cx="245059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pipeline · consultas · relatórios · consulta 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828800"/>
            <a:ext cx="1463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1828800"/>
            <a:ext cx="73152" cy="1143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011680"/>
            <a:ext cx="1097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Evidência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9256" y="2450592"/>
            <a:ext cx="107899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SQLite · mapas · testes · proveniência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63240" y="2240280"/>
            <a:ext cx="320040" cy="274320"/>
          </a:xfrm>
          <a:prstGeom prst="rightArrow">
            <a:avLst/>
          </a:prstGeom>
          <a:solidFill>
            <a:srgbClr val="5F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217920" y="2240280"/>
            <a:ext cx="320040" cy="274320"/>
          </a:xfrm>
          <a:prstGeom prst="rightArrow">
            <a:avLst/>
          </a:prstGeom>
          <a:solidFill>
            <a:srgbClr val="5F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9418320" y="2240280"/>
            <a:ext cx="320040" cy="274320"/>
          </a:xfrm>
          <a:prstGeom prst="rightArrow">
            <a:avLst/>
          </a:prstGeom>
          <a:solidFill>
            <a:srgbClr val="5F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6908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76852"/>
                </a:solidFill>
                <a:latin typeface="Aptos"/>
              </a:rPr>
              <a:t>Decisão ADR-003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9875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  <a:latin typeface="Aptos Display"/>
              </a:rPr>
              <a:t>Manter o monólito modular: alto reuso, baixo acoplamento e menor custo operacional para o tamanho atual.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SDD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326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11F34"/>
                </a:solidFill>
                <a:latin typeface="Aptos Display"/>
              </a:rPr>
              <a:t>A especificação é o contrato antes da implementação.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43200"/>
            <a:ext cx="658368" cy="658368"/>
          </a:xfrm>
          <a:prstGeom prst="ellipse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98648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57600"/>
            <a:ext cx="914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11F34"/>
                </a:solidFill>
                <a:latin typeface="Aptos"/>
              </a:rPr>
              <a:t>Descobrir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06908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F6F7D"/>
                </a:solidFill>
                <a:latin typeface="Aptos"/>
              </a:rPr>
              <a:t>Problema, dados reais e casos de borda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2743200"/>
            <a:ext cx="658368" cy="658368"/>
          </a:xfrm>
          <a:prstGeom prst="ellipse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898648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657600"/>
            <a:ext cx="914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11F34"/>
                </a:solidFill>
                <a:latin typeface="Aptos"/>
              </a:rPr>
              <a:t>Especificar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406908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F6F7D"/>
                </a:solidFill>
                <a:latin typeface="Aptos"/>
              </a:rPr>
              <a:t>Cenários, requisitos e critérios de aceite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2743200"/>
            <a:ext cx="658368" cy="658368"/>
          </a:xfrm>
          <a:prstGeom prst="ellipse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898648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657600"/>
            <a:ext cx="914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11F34"/>
                </a:solidFill>
                <a:latin typeface="Aptos"/>
              </a:rPr>
              <a:t>Projetar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406908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F6F7D"/>
                </a:solidFill>
                <a:latin typeface="Aptos"/>
              </a:rPr>
              <a:t>Alternativas, decisões e impacto arquitetural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0" y="2743200"/>
            <a:ext cx="658368" cy="658368"/>
          </a:xfrm>
          <a:prstGeom prst="ellipse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98648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3657600"/>
            <a:ext cx="914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11F34"/>
                </a:solidFill>
                <a:latin typeface="Aptos"/>
              </a:rPr>
              <a:t>Implementar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06908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F6F7D"/>
                </a:solidFill>
                <a:latin typeface="Aptos"/>
              </a:rPr>
              <a:t>Tarefas pequenas orientadas por spec</a:t>
            </a:r>
          </a:p>
        </p:txBody>
      </p:sp>
      <p:sp>
        <p:nvSpPr>
          <p:cNvPr id="25" name="Oval 24"/>
          <p:cNvSpPr/>
          <p:nvPr/>
        </p:nvSpPr>
        <p:spPr>
          <a:xfrm>
            <a:off x="9829800" y="2743200"/>
            <a:ext cx="658368" cy="658368"/>
          </a:xfrm>
          <a:prstGeom prst="ellipse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898648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3657600"/>
            <a:ext cx="914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11F34"/>
                </a:solidFill>
                <a:latin typeface="Aptos"/>
              </a:rPr>
              <a:t>Verificar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406908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F6F7D"/>
                </a:solidFill>
                <a:latin typeface="Aptos"/>
              </a:rPr>
              <a:t>Testes, diff e rastreabilidade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Harness: guardrails que realmente barram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73152" cy="132588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196596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404872"/>
            <a:ext cx="2907792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AGENTS.md, CLAUDE.md, regras por escopo e ADRs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73152" cy="1325880"/>
          </a:xfrm>
          <a:prstGeom prst="rect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96596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404872"/>
            <a:ext cx="2907792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Hook bloqueia dados; checkpoint humano protege a escrita no banco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8308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783080"/>
            <a:ext cx="73152" cy="132588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196596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404872"/>
            <a:ext cx="2907792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pytest, revisão de diff, histórico e rastreabilidade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76852"/>
                </a:solidFill>
                <a:latin typeface="Aptos"/>
              </a:rPr>
              <a:t>Evidência da atividade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987552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O hook bloqueou `git add` de `.db` e `.csv` com exit 2.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Código foi liberado com exit 0.</a:t>
            </a:r>
          </a:p>
          <a:p>
            <a:pPr>
              <a:spcAft>
                <a:spcPts val="7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Checkpoint humano parou antes da escrita no banco consolidado.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TECNOLOGIA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Tecnologias adotadas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73152" cy="1143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1965960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Python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404872"/>
            <a:ext cx="286207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núcleo e 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73152" cy="114300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6" y="1965960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pandas / 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404872"/>
            <a:ext cx="286207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transformação e cálculo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17830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783080"/>
            <a:ext cx="73152" cy="1143000"/>
          </a:xfrm>
          <a:prstGeom prst="rect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1965960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04872"/>
            <a:ext cx="286207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persistência e consulta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291839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291839"/>
            <a:ext cx="73152" cy="1143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3474720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pytest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913631"/>
            <a:ext cx="286207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testes por cenário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291839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291839"/>
            <a:ext cx="73152" cy="1143000"/>
          </a:xfrm>
          <a:prstGeom prst="rect">
            <a:avLst/>
          </a:prstGeom>
          <a:solidFill>
            <a:srgbClr val="41A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6" y="3474720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OpenSpec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3913631"/>
            <a:ext cx="286207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SDD incremental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3291839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3291839"/>
            <a:ext cx="73152" cy="1143000"/>
          </a:xfrm>
          <a:prstGeom prst="rect">
            <a:avLst/>
          </a:prstGeom>
          <a:solidFill>
            <a:srgbClr val="EF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776" y="3474720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Mermaid / ADR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3913631"/>
            <a:ext cx="286207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arquitetura e decisões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2578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11F34"/>
                </a:solidFill>
                <a:latin typeface="Aptos"/>
              </a:rPr>
              <a:t>Stack escolhida para manter o pipeline local, reprodutível e legível pelos agentes.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Como os agentes de IA foram usados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669280" cy="3383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Explorar código, dados, dependências e caminhos de integração.</a:t>
            </a:r>
          </a:p>
          <a:p>
            <a:pPr>
              <a:spcAft>
                <a:spcPts val="7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Propor specs, desenhos, tarefas e testes a partir de evidências.</a:t>
            </a:r>
          </a:p>
          <a:p>
            <a:pPr>
              <a:spcAft>
                <a:spcPts val="7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Implementar mudanças pequenas sob contexto versionado.</a:t>
            </a:r>
          </a:p>
          <a:p>
            <a:pPr>
              <a:spcAft>
                <a:spcPts val="7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Executar validações, revisar diffs e produzir documentação.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965960"/>
            <a:ext cx="4069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1965960"/>
            <a:ext cx="73152" cy="192024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2148840"/>
            <a:ext cx="37033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Princípio de autoria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336" y="2587752"/>
            <a:ext cx="3685032" cy="1170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23303F"/>
                </a:solidFill>
                <a:latin typeface="Aptos"/>
              </a:rPr>
              <a:t>O agente automatiza trabalho repetível; os autores decidem o método científico, os limites de dados e a aceitação do resultado.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38912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1A691"/>
                </a:solidFill>
                <a:latin typeface="Aptos"/>
              </a:rPr>
              <a:t>Humano no circuito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736592"/>
            <a:ext cx="4389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11F34"/>
                </a:solidFill>
                <a:latin typeface="Aptos"/>
              </a:rPr>
              <a:t>decisão de domínio  ·  revisão  ·  aprovação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Evidências de execução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3774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76852"/>
                </a:solidFill>
                <a:latin typeface="Aptos Display"/>
              </a:rPr>
              <a:t>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F6F7D"/>
                </a:solidFill>
                <a:latin typeface="Aptos"/>
              </a:rPr>
              <a:t>testes automatizados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74320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41A691"/>
                </a:solidFill>
                <a:latin typeface="Aptos Display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7432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F6F7D"/>
                </a:solidFill>
                <a:latin typeface="Aptos"/>
              </a:rPr>
              <a:t>mudanças OpenSpec arquivadas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23774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FB54B"/>
                </a:solidFill>
                <a:latin typeface="Aptos Display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F6F7D"/>
                </a:solidFill>
                <a:latin typeface="Aptos"/>
              </a:rPr>
              <a:t>requisitos funcionais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1828800"/>
            <a:ext cx="219456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76852"/>
                </a:solidFill>
                <a:latin typeface="Aptos Display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331720"/>
            <a:ext cx="21945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F6F7D"/>
                </a:solidFill>
                <a:latin typeface="Aptos"/>
              </a:rPr>
              <a:t>UFs no desenho de 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11F34"/>
                </a:solidFill>
                <a:latin typeface="Aptos Display"/>
              </a:rPr>
              <a:t>O piloto RN usa o mesmo núcleo que será aplicado ao Brasil; o filtro estadual é configuração, não bifurcação de código.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76852"/>
                </a:solidFill>
                <a:latin typeface="Aptos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11F34"/>
                </a:solidFill>
                <a:latin typeface="Aptos Display"/>
              </a:rPr>
              <a:t>Riscos, limites e respostas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26464"/>
            <a:ext cx="914400" cy="54864"/>
          </a:xfrm>
          <a:prstGeom prst="rect">
            <a:avLst/>
          </a:prstGeom>
          <a:solidFill>
            <a:srgbClr val="E7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F7D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76852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383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Completude de gravidade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6309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7D"/>
                </a:solidFill>
                <a:latin typeface="Aptos"/>
              </a:rPr>
              <a:t>Triangulação SIH + RENAEST + PRF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286000"/>
            <a:ext cx="10012680" cy="13716"/>
          </a:xfrm>
          <a:prstGeom prst="rect">
            <a:avLst/>
          </a:prstGeom>
          <a:solidFill>
            <a:srgbClr val="DC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383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Cobertura de exposição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6309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7D"/>
                </a:solidFill>
                <a:latin typeface="Aptos"/>
              </a:rPr>
              <a:t>Imputação declarada para segmentos sem posto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200400"/>
            <a:ext cx="10012680" cy="13716"/>
          </a:xfrm>
          <a:prstGeom prst="rect">
            <a:avLst/>
          </a:prstGeom>
          <a:solidFill>
            <a:srgbClr val="DC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3383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Mudança da malha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6309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7D"/>
                </a:solidFill>
                <a:latin typeface="Aptos"/>
              </a:rPr>
              <a:t>Safra incompatível interrompe o cálculo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114800"/>
            <a:ext cx="10012680" cy="13716"/>
          </a:xfrm>
          <a:prstGeom prst="rect">
            <a:avLst/>
          </a:prstGeom>
          <a:solidFill>
            <a:srgbClr val="DC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3383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1F34"/>
                </a:solidFill>
                <a:latin typeface="Aptos"/>
              </a:rPr>
              <a:t>Dados sensíveis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6309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7D"/>
                </a:solidFill>
                <a:latin typeface="Aptos"/>
              </a:rPr>
              <a:t>Fora do versionamento e protegidos por guardrail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029200"/>
            <a:ext cx="10012680" cy="13716"/>
          </a:xfrm>
          <a:prstGeom prst="rect">
            <a:avLst/>
          </a:prstGeom>
          <a:solidFill>
            <a:srgbClr val="DC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5836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B54B"/>
                </a:solidFill>
                <a:latin typeface="Aptos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71600"/>
            <a:ext cx="713232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Do dado aberto ao
trecho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063240"/>
            <a:ext cx="6675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8E3E7"/>
                </a:solidFill>
                <a:latin typeface="Aptos Display"/>
              </a:rPr>
              <a:t>O projeto entrega um piloto RN com método explícito, software verificável e um caminho nacional sem reescrever o núcleo.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074920"/>
            <a:ext cx="896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FB54B"/>
                </a:solidFill>
                <a:latin typeface="Aptos"/>
              </a:rPr>
              <a:t>Custo social  ·  exposição  ·  proveniência  ·  SDD  ·  IA sob revisão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4754880"/>
            <a:ext cx="2103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2500" b="1">
                <a:solidFill>
                  <a:srgbClr val="E76852"/>
                </a:solidFill>
                <a:latin typeface="Aptos Display"/>
              </a:rPr>
              <a:t>Obrigado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BEC9D2"/>
                </a:solidFill>
                <a:latin typeface="Aptos"/>
              </a:rPr>
              <a:t>Piloto RN de custo social de sinistros | TEES 2026.2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EFB54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